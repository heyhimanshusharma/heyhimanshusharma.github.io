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d21abdaf804759" /><Relationship Type="http://schemas.openxmlformats.org/officeDocument/2006/relationships/extended-properties" Target="/docProps/app.xml" Id="R70db1d2688ee4dcb" /><Relationship Type="http://schemas.openxmlformats.org/officeDocument/2006/relationships/officeDocument" Target="/ppt/presentation.xml" Id="R18ef6625dd0747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27fa3359a0473d"/>
  </p:sldMasterIdLst>
  <p:notesMasterIdLst>
    <p:notesMasterId xmlns:r="http://schemas.openxmlformats.org/officeDocument/2006/relationships" r:id="R7e70d101a1dc4a9f"/>
  </p:notesMasterIdLst>
  <p:sldIdLst>
    <p:sldId xmlns:r="http://schemas.openxmlformats.org/officeDocument/2006/relationships" id="256" r:id="Re977a8b604ab4aad"/>
    <p:sldId xmlns:r="http://schemas.openxmlformats.org/officeDocument/2006/relationships" id="257" r:id="R87d8e11bde4042a4"/>
    <p:sldId xmlns:r="http://schemas.openxmlformats.org/officeDocument/2006/relationships" id="258" r:id="R43b6f80237594914"/>
    <p:sldId xmlns:r="http://schemas.openxmlformats.org/officeDocument/2006/relationships" id="259" r:id="R95949867767a4671"/>
    <p:sldId xmlns:r="http://schemas.openxmlformats.org/officeDocument/2006/relationships" id="260" r:id="R2586a76044e74513"/>
    <p:sldId xmlns:r="http://schemas.openxmlformats.org/officeDocument/2006/relationships" id="261" r:id="R7aad0de77d924f79"/>
    <p:sldId xmlns:r="http://schemas.openxmlformats.org/officeDocument/2006/relationships" id="262" r:id="R87642bfabb53413f"/>
    <p:sldId xmlns:r="http://schemas.openxmlformats.org/officeDocument/2006/relationships" id="263" r:id="Re3b760de24a9494e"/>
    <p:sldId xmlns:r="http://schemas.openxmlformats.org/officeDocument/2006/relationships" id="264" r:id="R13f51d6b6d9048bd"/>
    <p:sldId xmlns:r="http://schemas.openxmlformats.org/officeDocument/2006/relationships" id="265" r:id="Rd655fa498d154c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27fa3359a0473d" /><Relationship Type="http://schemas.openxmlformats.org/officeDocument/2006/relationships/theme" Target="/ppt/theme/theme1.xml" Id="R781504bd66214312" /><Relationship Type="http://schemas.openxmlformats.org/officeDocument/2006/relationships/notesMaster" Target="/ppt/notesMasters/notesMaster1.xml" Id="R7e70d101a1dc4a9f" /><Relationship Type="http://schemas.openxmlformats.org/officeDocument/2006/relationships/presProps" Target="/ppt/presProps.xml" Id="R7e0bda40c0494657" /><Relationship Type="http://schemas.openxmlformats.org/officeDocument/2006/relationships/viewProps" Target="/ppt/viewProps.xml" Id="R439c9b7d58a6486a" /><Relationship Type="http://schemas.openxmlformats.org/officeDocument/2006/relationships/tableStyles" Target="/ppt/tableStyles.xml" Id="Rc1198c33f8804e9f" /><Relationship Type="http://schemas.openxmlformats.org/officeDocument/2006/relationships/slide" Target="/ppt/slides/slide1.xml" Id="Re977a8b604ab4aad" /><Relationship Type="http://schemas.openxmlformats.org/officeDocument/2006/relationships/slide" Target="/ppt/slides/slide2.xml" Id="R87d8e11bde4042a4" /><Relationship Type="http://schemas.openxmlformats.org/officeDocument/2006/relationships/slide" Target="/ppt/slides/slide3.xml" Id="R43b6f80237594914" /><Relationship Type="http://schemas.openxmlformats.org/officeDocument/2006/relationships/slide" Target="/ppt/slides/slide4.xml" Id="R95949867767a4671" /><Relationship Type="http://schemas.openxmlformats.org/officeDocument/2006/relationships/slide" Target="/ppt/slides/slide5.xml" Id="R2586a76044e74513" /><Relationship Type="http://schemas.openxmlformats.org/officeDocument/2006/relationships/slide" Target="/ppt/slides/slide6.xml" Id="R7aad0de77d924f79" /><Relationship Type="http://schemas.openxmlformats.org/officeDocument/2006/relationships/slide" Target="/ppt/slides/slide7.xml" Id="R87642bfabb53413f" /><Relationship Type="http://schemas.openxmlformats.org/officeDocument/2006/relationships/slide" Target="/ppt/slides/slide8.xml" Id="Re3b760de24a9494e" /><Relationship Type="http://schemas.openxmlformats.org/officeDocument/2006/relationships/slide" Target="/ppt/slides/slide9.xml" Id="R13f51d6b6d9048bd" /><Relationship Type="http://schemas.openxmlformats.org/officeDocument/2006/relationships/slide" Target="/ppt/slides/slide10.xml" Id="Rd655fa498d154c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0166cdda07749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050da59b9741c7" /><Relationship Type="http://schemas.openxmlformats.org/officeDocument/2006/relationships/notesMaster" Target="/ppt/notesMasters/notesMaster1.xml" Id="Re71aee8e046d4e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f317b989364071" /><Relationship Type="http://schemas.openxmlformats.org/officeDocument/2006/relationships/notesMaster" Target="/ppt/notesMasters/notesMaster1.xml" Id="R419a8a55560d4a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8b7b1652914f50" /><Relationship Type="http://schemas.openxmlformats.org/officeDocument/2006/relationships/notesMaster" Target="/ppt/notesMasters/notesMaster1.xml" Id="R6bd0888ed2e24c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dc87ed20f548b5" /><Relationship Type="http://schemas.openxmlformats.org/officeDocument/2006/relationships/notesMaster" Target="/ppt/notesMasters/notesMaster1.xml" Id="R53305fb8d0f14c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2f4db09b014d51" /><Relationship Type="http://schemas.openxmlformats.org/officeDocument/2006/relationships/notesMaster" Target="/ppt/notesMasters/notesMaster1.xml" Id="R98808ae87b9a45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942ecba5d74a13" /><Relationship Type="http://schemas.openxmlformats.org/officeDocument/2006/relationships/notesMaster" Target="/ppt/notesMasters/notesMaster1.xml" Id="Rda65236d8d9343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84415ae356412d" /><Relationship Type="http://schemas.openxmlformats.org/officeDocument/2006/relationships/notesMaster" Target="/ppt/notesMasters/notesMaster1.xml" Id="R589ee1fea5bd47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52e692980a4a2d" /><Relationship Type="http://schemas.openxmlformats.org/officeDocument/2006/relationships/notesMaster" Target="/ppt/notesMasters/notesMaster1.xml" Id="R8f1458b7166a49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00de7eb3024299" /><Relationship Type="http://schemas.openxmlformats.org/officeDocument/2006/relationships/notesMaster" Target="/ppt/notesMasters/notesMaster1.xml" Id="R9bec2e2fe4b94a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610b725e6445fa" /><Relationship Type="http://schemas.openxmlformats.org/officeDocument/2006/relationships/notesMaster" Target="/ppt/notesMasters/notesMaster1.xml" Id="R94afae76e5b041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8ed3248104ae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4f84820d9d5401b" /><Relationship Type="http://schemas.openxmlformats.org/officeDocument/2006/relationships/slideLayout" Target="/ppt/slideLayouts/slideLayout2.xml" Id="R3b65014fa8c94c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65014fa8c94c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f097850a774b62" /><Relationship Type="http://schemas.openxmlformats.org/officeDocument/2006/relationships/notesSlide" Target="/ppt/notesSlides/notesSlide1.xml" Id="R5ea4eebe8c0447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9e6f2a91e24a68" /><Relationship Type="http://schemas.openxmlformats.org/officeDocument/2006/relationships/notesSlide" Target="/ppt/notesSlides/notesSlide2.xml" Id="R38fff32c745a4f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ac7c35cff04d67" /><Relationship Type="http://schemas.openxmlformats.org/officeDocument/2006/relationships/notesSlide" Target="/ppt/notesSlides/notesSlide3.xml" Id="Rd816446dbcea47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873823f977447c" /><Relationship Type="http://schemas.openxmlformats.org/officeDocument/2006/relationships/notesSlide" Target="/ppt/notesSlides/notesSlide4.xml" Id="R83f041d049654e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e0269b366f49f8" /><Relationship Type="http://schemas.openxmlformats.org/officeDocument/2006/relationships/notesSlide" Target="/ppt/notesSlides/notesSlide5.xml" Id="R4bbc8e9330904a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b483ac12f44b35" /><Relationship Type="http://schemas.openxmlformats.org/officeDocument/2006/relationships/notesSlide" Target="/ppt/notesSlides/notesSlide6.xml" Id="R48d0c066165641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57c0bacb914280" /><Relationship Type="http://schemas.openxmlformats.org/officeDocument/2006/relationships/notesSlide" Target="/ppt/notesSlides/notesSlide7.xml" Id="Rf2da9dc1a13e4a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6fd54e893145dc" /><Relationship Type="http://schemas.openxmlformats.org/officeDocument/2006/relationships/notesSlide" Target="/ppt/notesSlides/notesSlide8.xml" Id="Rcfc2e233d3834a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b5fa8b496b415c" /><Relationship Type="http://schemas.openxmlformats.org/officeDocument/2006/relationships/notesSlide" Target="/ppt/notesSlides/notesSlide9.xml" Id="Ra24e172b7aec4f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6ac147da2341db" /><Relationship Type="http://schemas.openxmlformats.org/officeDocument/2006/relationships/notesSlide" Target="/ppt/notesSlides/notesSlide10.xml" Id="R737fe34e161045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EAF1DB-843F-45F8-8A8D-6989D538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96D17-DA1D-4249-AA66-C914D41F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67F2C-752E-47BE-8E4C-FBEA84AE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C2877-0FA2-431F-8F7C-A9577509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Chapter 4 presentation | Formal academic reflection format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39AA0-78C3-4A72-A0AB-9A5D7A05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D8E51-59B1-41FA-81DD-71203677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742950"/>
            <a:ext cx="35242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215C0-D9D8-4D81-B1A9-848AEB6D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200150"/>
            <a:ext cx="11049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FEFEC-C185-4913-9BD7-D7C0B479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1049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54D4A-CFBC-4BB9-972A-08C936B5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2552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89651-8983-46AE-BC59-D2B8CCF4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77D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C77D1A"/>
                </a:solidFill>
                <a:latin typeface="Times New Roman"/>
                <a:ea typeface="Times New Roman"/>
                <a:cs typeface="Times New Roman"/>
              </a:rPr>
              <a:t>CHAPTER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02EF2-158D-41EB-90BD-3149C0B5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90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Energy Crisis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6D622-D11A-465E-9483-7EE7C946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meaning, causes, and solutions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60353-6D5F-4F31-B572-37F7524D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An energy crisis is not simply a shortage of fuel or electricity. It is a failure of the systems that should provide reliable, affordable, and sustainable energy for daily life.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A705D-13F4-4A7A-82D0-1A7D60C7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5A7AE-AD47-4568-8EB8-A0833642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E75BE-BCB1-4AF6-975B-4C0A9AE1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The topic is examined through definition, causes, effects, solutions, and personal reflection.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4EFC6-1CB1-4BBE-9E27-8D5CEEFA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Reliable supply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EC5CB-599A-4793-A125-E87D47C8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Sustainable transition</a:t>
            </a:r>
          </a:p>
        </p:txBody>
      </p:sp>
    </p:spTree>
    <p:extLst>
      <p:ext uri="{BB962C8B-B14F-4D97-AF65-F5344CB8AC3E}">
        <p14:creationId xmlns:p14="http://schemas.microsoft.com/office/powerpoint/2010/main" val="17363238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854E45-D518-400C-A7B0-140C1E0F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74990-FBEF-423F-A8C8-1F4DA60E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8220E-4B62-46B2-8F77-5EB6FF5D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8CD25-AF8E-47AD-8557-52464F2D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Source: class discussion and general energy systems concepts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29F9F-D73C-4CAD-AFC4-4818305C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31B6A46-73F5-4FD9-BD69-F4392B8B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0BFD45E-7388-4422-A9C2-752AB564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CENTRAL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D76C4-3538-4F76-8525-21D9CEF6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An energy crisis begins when access can no longer meet society's basic expectations.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77D91-BFAB-4CA1-8280-E57D4D51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Guide question answered: What is the central idea or main concept presented in the topic?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BF96F-8CD0-4888-BD22-7F1DD6DB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552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77D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7AD56-6D95-4290-9F84-95CF5728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7D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C77D1A"/>
                </a:solidFill>
                <a:latin typeface="Times New Roman"/>
                <a:ea typeface="Times New Roman"/>
                <a:cs typeface="Times New Roman"/>
              </a:rPr>
              <a:t>Reliable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84E56-715B-4F5C-B343-8EBF1F1D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2900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Energy is available when people need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24CD9-7E20-4608-9133-28115534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71750"/>
            <a:ext cx="2552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147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B5EA6-31EA-4E31-AF94-9E7B36F0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765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7A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47A78"/>
                </a:solidFill>
                <a:latin typeface="Times New Roman"/>
                <a:ea typeface="Times New Roman"/>
                <a:cs typeface="Times New Roman"/>
              </a:rPr>
              <a:t>Affordable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AFFCB-7CCF-4691-BD1B-AFCC59D7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2900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Households, schools, and businesses can pay for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F386C-ACBD-4EC1-9926-FDD3D4BC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2552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2949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B262F-F52C-4874-84B6-763EAC31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949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94936"/>
                </a:solidFill>
                <a:latin typeface="Times New Roman"/>
                <a:ea typeface="Times New Roman"/>
                <a:cs typeface="Times New Roman"/>
              </a:rPr>
              <a:t>Sustainable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B3F83-1F4D-4334-B557-D8EF1485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2900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Supply does not destroy the environmental base of future life.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502A90-0E87-4C3D-8EC9-E2EE2D87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146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BCFF11-F035-4749-8012-F2A04010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1146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BE097-D80C-4D55-8135-0808930F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DDAD8-FD52-41BC-8038-12890BBC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673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642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A64236"/>
                </a:solidFill>
                <a:latin typeface="Times New Roman"/>
                <a:ea typeface="Times New Roman"/>
                <a:cs typeface="Times New Roman"/>
              </a:rPr>
              <a:t>Energy crisis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1C5959-08AC-4C40-B034-34C9FC81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245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When any one part breaks, the whole system becomes unstable.</a:t>
            </a:r>
          </a:p>
        </p:txBody>
      </p:sp>
    </p:spTree>
    <p:extLst>
      <p:ext uri="{BB962C8B-B14F-4D97-AF65-F5344CB8AC3E}">
        <p14:creationId xmlns:p14="http://schemas.microsoft.com/office/powerpoint/2010/main" val="16178221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69B6CF-F3DB-433F-AE8E-90EBAC30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DB6A4-FA2D-4571-84B8-B1625543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26154-128B-41B3-B0B2-CB9F90AF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F8064-91C1-44D0-8DCE-69130F85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Source: class discussion and general energy systems concepts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46E18-EA17-4FB7-91CC-A950BA7B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98EDE82-5769-43DB-AF6C-4F915299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5E94D4-1455-4E78-90A0-5002A60F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MEANING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C255D-A5F3-4F31-ACF5-2F8B949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The crisis is a gap between rising energy needs and the capacity to meet them responsibly.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A3780-C866-40E1-AFC4-101B7083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A useful definition must include supply, price, access, and environmental limits.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C0CA0-A34B-4370-80BE-BD89A875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895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77D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B5FEE-47C4-45E6-8C82-C609B377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895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A642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AA486-C046-4F94-A62E-231400E4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7D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C77D1A"/>
                </a:solidFill>
                <a:latin typeface="Times New Roman"/>
                <a:ea typeface="Times New Roman"/>
                <a:cs typeface="Times New Roman"/>
              </a:rPr>
              <a:t>Energy demand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5B8D1-AA95-4F65-A2E5-8D5E99BA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population, industry, transport, digital life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5E92F-ADA7-48AE-9F6B-532529F3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642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A64236"/>
                </a:solidFill>
                <a:latin typeface="Times New Roman"/>
                <a:ea typeface="Times New Roman"/>
                <a:cs typeface="Times New Roman"/>
              </a:rPr>
              <a:t>Energy supply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54FDD-EE68-47D7-BF96-C1AA9D9B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718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fuel sources, grids, imports, storage,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B8B61-0314-4387-A1C9-5347F6B7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1945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4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95087-5239-45E1-9AF8-D3A75F56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146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mismatch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C5BA5-28BD-420A-AC1D-12270AC0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52900"/>
            <a:ext cx="2552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6779F-374B-4E45-B74E-1926D701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6245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Crisis pressure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033DC-FAC1-4232-B79C-18AF05DE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244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D9E2E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D9E2EF"/>
                </a:solidFill>
                <a:latin typeface="Times New Roman"/>
                <a:ea typeface="Times New Roman"/>
                <a:cs typeface="Times New Roman"/>
              </a:rPr>
              <a:t>shortage, high prices, unequal access, pollution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0D2B9-0CD0-499C-8369-BA504A48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4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70119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B0EA0-15B8-4A28-860A-5BC9CCDD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2AA5E-7AD6-4AE7-BD93-31AA2801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033E4-0C27-4939-8332-A6F20BC4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302B4-696F-4607-867D-D3926E62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Source: class discussion and general energy systems concepts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62C54-9EB3-4245-96CE-E36014C1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7C99181-A1D9-4A13-8B4F-0A21D00B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1EA8D44-5580-4225-84F4-040EBABA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MAJOR CAUSES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468F0-8515-42B1-9413-D65C38D5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Energy shortages usually come from several causes acting at the same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3DC85-9944-4DAA-A681-E55135CD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781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77D1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214D2-646D-493F-8D56-E0352F32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7D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C77D1A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704C8-2BDB-4763-83B2-24DE6681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43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Rising demand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FFDF8-8FE5-4883-A960-CB36B900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Population growth, urbanization, and greater use of machines increase daily energy needs.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A1980-C5CE-433E-B0BE-BE533D2A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2781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A642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CC834-3BFA-468A-86C3-2C8C4B11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431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642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A64236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4EA76-4AAD-4987-9D96-8FD14B37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43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Fossil-fuel dependence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37914-1F9C-459A-8C92-334E6371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670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Coal, oil, and gas remain limited, polluting, and exposed to price shocks.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F3F50-67AE-4561-AD15-A4220E86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52650"/>
            <a:ext cx="2781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5E64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28706-AB3D-4843-9508-8AF36CAB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4B896F-7007-4525-B905-4A9B265B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Weak infrastructure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CBCD3-FEF3-4BC1-A64E-5B9749DF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Old grids, poor storage, and inefficient transmission turn supply into scarcity.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FE5AD-1722-410B-9491-A3A53757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2781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2949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363C4-E8B3-48E0-BDB8-9F3702B6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49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94936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8DE81-4F05-45A6-8999-A7C499C1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Conflict and policy gaps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FA5946-0EBB-4670-BCBC-83F5633F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War, unstable markets, weak planning, and unequal investment disrupt access.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3D773E-A017-4B4B-9998-9A14B36B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57650"/>
            <a:ext cx="2781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147A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E17CE9-DB47-4CE0-BDB3-10D633AB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481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A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47A78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F1215F-D5FE-44B3-B4A4-5E762B22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Climate pressure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7EF420-12E1-4A73-AA56-C0FF174B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720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Extreme heat, drought, and disasters damage supply systems and raise demand.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5E4F47-6572-4000-BF98-52391914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34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These causes overlap, which is why one solution alone is rarely enough.</a:t>
            </a:r>
          </a:p>
        </p:txBody>
      </p:sp>
    </p:spTree>
    <p:extLst>
      <p:ext uri="{BB962C8B-B14F-4D97-AF65-F5344CB8AC3E}">
        <p14:creationId xmlns:p14="http://schemas.microsoft.com/office/powerpoint/2010/main" val="20887552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933957-917A-49AF-AF96-7650C9D1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9F513-F31E-4D90-A161-5BA578F9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650EC-F5EC-44C0-B72E-3AC31D43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3774E-D8B7-4E1A-94E4-D39E87A4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Source: class discussion and general energy systems concepts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7DD63-5C6E-4B8D-86A7-EA11ADE2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874C1F-A5A9-4D6D-83A9-F0A3B6D5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962D888-6AF2-4E35-AAB9-3B375861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EFFECTS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9B9F1-8079-4F74-8088-49C58128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The consequences travel from power systems into ordinary social life.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DE3A7-E174-49E9-A530-9367F455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1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4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636BC-FD02-4D0F-A123-4D8A74A0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1790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A642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14168-7EC4-4345-A69D-A5C033E9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Supply stress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61BD4-E52C-48C1-9234-FE11D101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fuel shortage or grid failure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373C9-D2A7-4594-9729-A8C5A79A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337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D34AC-5C4D-4C25-A102-4632AC4E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D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4CA12-5603-4143-9603-3D020EB9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38500"/>
            <a:ext cx="1790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77D1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9B74F-AA9D-4B8C-A5A5-B4FC4046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0995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Price rise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425AA-6114-4DB4-A6BA-E3C216AB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100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higher electricity and transport costs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F4B59-0F9C-4746-9893-B8782C38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FA6A8-5D2A-4DCB-9AEF-75EEC03E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1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74FC2-25D9-427D-A89D-C393B9D0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38450"/>
            <a:ext cx="1790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147A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60220-B012-49FB-8F02-EEF99EA5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099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Household strain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0382F-8A34-48E4-A313-148F09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099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reduced comfort, health risks, hard choices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6513E-D259-488E-8DF0-974F6615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337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268714-15F7-4EF2-886E-9E8CCFE1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4BB109-2012-47B1-82AB-F30564E2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38500"/>
            <a:ext cx="1790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29493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0D089D-6157-4F5B-9DBC-E65ECE32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Economic slowdown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AFA5FD-217C-4FAE-8ED5-54D81355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00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production delays and inflation pressure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A143A4-837B-4F70-B263-6AE97EFA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338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82B037-80F5-43F3-B981-653EB9BA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1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BC04F1-EF4A-427A-9509-38D3A156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38450"/>
            <a:ext cx="1790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1820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25ECA3-38AD-4B6C-942F-B956FD5A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099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Environmental damage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B67AD5-B846-446E-B995-874A883F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099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more pollution when dirty fuels fill the gap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2A1205-91AA-459B-A199-44D6452C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43150"/>
            <a:ext cx="902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E2D50D-E1E2-44B0-9F95-C3FEA97F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62550"/>
            <a:ext cx="8362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Important insight: an energy crisis is social before it is technical, because it changes health, learning, employment, and dignity.</a:t>
            </a:r>
          </a:p>
        </p:txBody>
      </p:sp>
    </p:spTree>
    <p:extLst>
      <p:ext uri="{BB962C8B-B14F-4D97-AF65-F5344CB8AC3E}">
        <p14:creationId xmlns:p14="http://schemas.microsoft.com/office/powerpoint/2010/main" val="18285272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E393B9-5C87-45D7-8B21-13C41AF6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E04B2-EB16-409F-B7D4-F34022C5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38C2F-CFA1-43B1-BBD6-15C3BF96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44CE9-FD31-4DA6-8192-50C6CE1A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Source: class discussion and general energy systems concepts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F7AE0-B95E-46C9-937A-1B04C106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24B8A2D-5D70-4BFF-A013-55FC9EAB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9AC0FE9-3679-419B-BEC2-829A5F70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INSIGHTS GAINED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75D0B-B5D0-47AA-983A-55519FE4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The most important lesson is that conservation and transition must advance together.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0AD24-5BD3-4E36-BF64-91EFCE1B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Guide question answered: What important insights or knowledge were gained?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BA511-65D9-4655-BDE9-8FE3A8D9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60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4C66F-2F93-4B59-9D10-2666B076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84F59-2AD0-4164-B774-E9BE8816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717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126B8-B600-4E34-AD51-36BCED79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Recognize limits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983ED-908C-4206-8693-84A93C6B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Energy resources are finite or environmentally costly when used without restraint.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9AF4B-7F7D-484D-84CC-8B905A42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60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2D876-FFCB-49D1-A960-ADDE3343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F1911-5743-4D72-9A36-00E43DA0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718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D83118-C9FC-47C5-BD95-B2CC061C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Reduce waste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305F0-1FFC-434F-9D78-EF13F21D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Efficiency is the fastest way to ease pressure without reducing human dignity.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19AF7E-474D-42E0-B672-8256A15C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60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94AAF-BBC9-4ABD-AAB5-D67B9171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B77283-86AF-4CCF-B92D-B289CF36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719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CE90C-C833-4F60-AC16-D330C3EE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Diversify supply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D836E-B1A0-48A1-9341-1929BBBF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672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Solar, wind, hydro, storage, and balanced grids reduce dependence on one fuel.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A7260-4293-4F05-8D4D-1311308B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43450"/>
            <a:ext cx="60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F4A940-6D7B-44CB-90EA-DFC09AD0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1A6623-054C-4DE9-A4D9-AF7AFC05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720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3686B3-24FE-4BF1-9468-7D8AD05C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Protect fairness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0D4370-EA69-434B-888D-61B68E23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673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Access must include poor households, rural communities, and future generations.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3A0F14-E116-4DB1-BA09-EDB9D135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71750"/>
            <a:ext cx="1581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76BC08-545F-440C-948D-50D2B5AF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575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E2E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D9E2EF"/>
                </a:solidFill>
                <a:latin typeface="Times New Roman"/>
                <a:ea typeface="Times New Roman"/>
                <a:cs typeface="Times New Roman"/>
              </a:rPr>
              <a:t>Key insight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60681E-A627-49EE-95D5-B3DEA7C9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33750"/>
            <a:ext cx="1162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Less waste today makes cleaner energy tomorrow more achievable.</a:t>
            </a:r>
          </a:p>
        </p:txBody>
      </p:sp>
    </p:spTree>
    <p:extLst>
      <p:ext uri="{BB962C8B-B14F-4D97-AF65-F5344CB8AC3E}">
        <p14:creationId xmlns:p14="http://schemas.microsoft.com/office/powerpoint/2010/main" val="11321970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5D850C-3F2B-4E2B-8C06-5D945E61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7CE5F-C0A0-44F0-941F-76B10EB5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4ED7A-2F5F-446D-9C0F-38CB4052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86696-9A95-4DEF-BCD9-9A4EBA65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Source: class discussion and general energy systems concepts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7EA89-B4C9-4DF1-A042-51BF5393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BC590C4-58CA-4EAE-A121-5F6364F8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EF16482-660B-4A99-A97C-1D69A645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PERSPECTIVE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F1834-93FD-40FB-8918-26DBC7DA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The topic shifts energy from a background convenience to a shared responsibility.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E1569-B900-4B8E-807F-CEA58863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28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Guide question answered: How did the topic influence or change perspective and understanding?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BB29F-6C22-4145-A8D2-E96945C2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286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5D8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9AFAE-2136-453E-8BE3-C2659EFA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4286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4"/>
          </a:solidFill>
          <a:ln xmlns:a="http://schemas.openxmlformats.org/drawingml/2006/main" w="9525">
            <a:solidFill>
              <a:srgbClr val="2949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93C96-EC1D-4F6C-A3E9-B5CAEEE7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Earlier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D4BFC-B2B0-46A3-878C-F2F63623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14700"/>
            <a:ext cx="320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Energy is mainly a service that should be available whenever it is needed.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41602-9B84-4E7F-8D15-7C62933A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949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94936"/>
                </a:solidFill>
                <a:latin typeface="Times New Roman"/>
                <a:ea typeface="Times New Roman"/>
                <a:cs typeface="Times New Roman"/>
              </a:rPr>
              <a:t>Changed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9F66B-22D6-4FA4-90DF-E769F38A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57550"/>
            <a:ext cx="320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Energy is a public responsibility shaped by habits, technology, policy, and care for the environment.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4FC98-3864-4E9C-BA57-5C4D8E69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623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FDB54-6CCE-42BA-8C1F-BD1D3F2C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194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7D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C77D1A"/>
                </a:solidFill>
                <a:latin typeface="Times New Roman"/>
                <a:ea typeface="Times New Roman"/>
                <a:cs typeface="Times New Roman"/>
              </a:rPr>
              <a:t>reflection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3A1CD-F78A-4B1B-8654-D32A1143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62550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Understanding changes when the invisible system behind a light switch becomes visible.</a:t>
            </a:r>
          </a:p>
        </p:txBody>
      </p:sp>
    </p:spTree>
    <p:extLst>
      <p:ext uri="{BB962C8B-B14F-4D97-AF65-F5344CB8AC3E}">
        <p14:creationId xmlns:p14="http://schemas.microsoft.com/office/powerpoint/2010/main" val="2054375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A775F6-F6EC-408D-859F-DD0B340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D357E-81F5-4061-A2DC-8D7578C1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583DF-15D6-47F3-8711-128F395B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A3024-FA3F-4426-BED8-C78C480E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Source: class discussion and general energy systems concepts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CAF5E-975F-4200-9590-81E29559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FDC5B59-9633-46D4-A9B2-1422F175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7FA50A7-0BEE-4C12-81B5-6CD5AEF6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APPLICATIONS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88029-0898-420B-835D-625ABE78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The lesson becomes practical when it guides everyday choices and institutional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9CF1A-4E39-4BC2-9E03-0D21724A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Guide question answered: In what ways can the lessons be applied in real-life, academic, or professional situations?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D2934-59ED-4E32-984D-939F2713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57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5DDE8-E3DB-4880-B4D9-C51DDF40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Setting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E4C4F-8126-49D9-9D5C-7B76070F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765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9D537-200D-4F90-B7FD-DC811443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Expected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AB560-380C-44A5-A194-BBA0D802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6D044-A94D-429C-92FE-A88B3295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D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C77D1A"/>
                </a:solidFill>
                <a:latin typeface="Times New Roman"/>
                <a:ea typeface="Times New Roman"/>
                <a:cs typeface="Times New Roman"/>
              </a:rPr>
              <a:t>Home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2003A-9E83-4721-8677-C6AA8D11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9146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Use efficient appliances, switch off idle loads, and plan transport carefully.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EAA16F-DDB8-4454-B756-C13800C9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Lower bills and reduced waste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E02E1-BE19-42D3-8104-8BA6D7D9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79112-CEF8-4B2D-85DC-D514A493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A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47A78"/>
                </a:solidFill>
                <a:latin typeface="Times New Roman"/>
                <a:ea typeface="Times New Roman"/>
                <a:cs typeface="Times New Roman"/>
              </a:rPr>
              <a:t>School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92A15-622E-4361-93C7-599F0DD1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5623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Promote awareness projects, energy audits, and responsible classroom use.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51811-34DF-47C0-8C70-E379CD6F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623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Learning connected to practice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CA21D-D35B-40FE-9633-E42D16C8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60B69-0B1C-4514-ABE1-6398FA5C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9190AE-74AB-4695-8C0E-03BC871C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D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C77D1A"/>
                </a:solidFill>
                <a:latin typeface="Times New Roman"/>
                <a:ea typeface="Times New Roman"/>
                <a:cs typeface="Times New Roman"/>
              </a:rPr>
              <a:t>Workplace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E899CF-C573-484E-9FB9-C69059AB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100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Improve lighting, cooling, equipment schedules, and backup planning.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8106BF-628F-4EB7-9EDE-E45C262B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10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Productivity with lower cost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C1D246-21F3-422C-AC38-10467C38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36BB65-E25F-4E47-9D97-0853CE52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A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47A78"/>
                </a:solidFill>
                <a:latin typeface="Times New Roman"/>
                <a:ea typeface="Times New Roman"/>
                <a:cs typeface="Times New Roman"/>
              </a:rPr>
              <a:t>Community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CB50DB-8EAD-4D55-B15D-30A5036E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8577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Support public transport, renewable projects, and fair energy policies.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BA8E70-CEDB-4FD0-9DB9-0E9F5D2D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57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Resilience and shared access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F69499-6A8A-456F-BA8F-1C22F908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05608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DDE557-5E39-4153-8B5F-3A430A3E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52D70-D305-408F-A707-168AF463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A716F-F97B-41A6-A73D-52CE2E95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EC429-1433-45A6-B25E-5EEDB98C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Source: class discussion and general energy systems concepts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2A070-46DE-4680-AB5F-2C0DF993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CAA9754-8BDB-455D-965E-58BA01DF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9137799-53C2-438A-AD85-C3F84C78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SOLUTIONS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80C48-EB35-4775-A1B9-28D26636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 serious response needs immediate relief and long-term redesign.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09F45-F1B3-4F9F-996A-D52AB5BC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642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A64236"/>
                </a:solidFill>
                <a:latin typeface="Times New Roman"/>
                <a:ea typeface="Times New Roman"/>
                <a:cs typeface="Times New Roman"/>
              </a:rPr>
              <a:t>Immediate relief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48176-C57F-4320-98A8-6EC1F34B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7444A-3713-4AA7-98D3-690BDFEB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4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09D9E-6BC4-4976-A527-200B8337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47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Save energy 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69A79-F5BF-4E42-ABA2-AD63B68C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efficiency, conservation, public awareness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749A8-5680-4EB0-B4CB-451BD901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4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94667-720A-4265-B154-A110D4ED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Stabilize supply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41D0A-22AB-4E42-9E9F-AB88BC20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52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grid repair, storage, emergency planning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A8869-7A1C-44B5-9FB3-23686952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4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491DD-D434-4C04-A7C9-F1583F22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Protect vulnerable groups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03E3B5-10B4-4B31-8BF1-DB994177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52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targeted support and fair pricing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72336-EB44-4520-B0CF-8FAACC54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A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47A78"/>
                </a:solidFill>
                <a:latin typeface="Times New Roman"/>
                <a:ea typeface="Times New Roman"/>
                <a:cs typeface="Times New Roman"/>
              </a:rPr>
              <a:t>Long-term redesign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0B02F-A4BB-4A0A-9795-29429FDF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77A49-680F-4C15-A819-0924A35F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3FFED7-E1C4-4F3A-8772-272EC8A4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Expand renewables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D15C2E-C276-4261-9423-D9C41FC7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76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solar, wind, hydro, and local generation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BF78DB-B0F9-4473-94EC-56A5139C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48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2159E-FCEB-4A60-AA7F-A9495702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72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Diversify energy mix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250D18-1743-4BD2-B05A-81294A5D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76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less dependence on one imported fuel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B30E73-1566-42FE-AC68-32B7DCA8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48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D59398-2340-483B-A39A-3F65384E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Build policy discipline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AD235F-927E-4979-8DD0-83B08064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76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standards, investment, and accountability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C7FDA7-3A7D-44C4-BFDB-0E8475A7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33450"/>
            <a:ext cx="2000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A0BE2B-7D25-4204-BAB4-7D59ED9A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04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E2E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D9E2EF"/>
                </a:solidFill>
                <a:latin typeface="Times New Roman"/>
                <a:ea typeface="Times New Roman"/>
                <a:cs typeface="Times New Roman"/>
              </a:rPr>
              <a:t>Solution principle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5142E1-1719-4B88-98B1-87B4F887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525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security + equity + sustainability</a:t>
            </a:r>
          </a:p>
        </p:txBody>
      </p:sp>
    </p:spTree>
    <p:extLst>
      <p:ext uri="{BB962C8B-B14F-4D97-AF65-F5344CB8AC3E}">
        <p14:creationId xmlns:p14="http://schemas.microsoft.com/office/powerpoint/2010/main" val="670047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84DA7-43F9-413E-ADDD-F16A086F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BA022-1B41-4434-9BB7-850A7FCA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D1761-0B93-404F-AB44-E7AE2790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1769E-1023-4208-8B0B-3C037456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Conclusion | Reflection paper structure: introduction, body, and 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4C594-8E78-4F2F-BE61-8BF5B37F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2B763E4-DDF5-4D4A-812C-27E28399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7A2E32A-2A8F-40BF-AC3A-70546561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45363-2C5C-46C0-A51A-8CC13028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The final realization is that energy responsibility must be practiced before a crisis forces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1A6CD-4C48-4C85-B07E-CF741D42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Guide question answered: What personal realization or conclusion developed after reflecting on the topic?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199E9-BAE9-49A0-98F3-8A6747CA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3962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CFEEE-829F-4051-9152-A35CD0C5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384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E2E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D9E2EF"/>
                </a:solidFill>
                <a:latin typeface="Times New Roman"/>
                <a:ea typeface="Times New Roman"/>
                <a:cs typeface="Times New Roman"/>
              </a:rPr>
              <a:t>Realization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3880B-D805-4E25-B3DE-3B8356DE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5280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Energy is not merely a resource to consume. It is a condition for learning, health, work, and environmental survival.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D7793-05BE-4B37-8AD8-F32F1F93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098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5D8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3441A-D87B-4E47-9D3B-3C8FB2EF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Think systemically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A37B8-B8D6-41B9-B5F6-9441AB08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336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look beyond one cause or one fuel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170D5-9C2A-45DC-BA76-37F2015C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5280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5D8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D3A91-F598-4DD0-B06B-CB190324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671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Act efficiently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A21CE-59DD-4BEA-9680-09871D08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66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reduce waste in ordinary routines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CEFC0-5823-404C-B53E-E5AD99CB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957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2949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F79E3-73A3-49BD-AB17-23590D5E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0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49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94936"/>
                </a:solidFill>
                <a:latin typeface="Times New Roman"/>
                <a:ea typeface="Times New Roman"/>
                <a:cs typeface="Times New Roman"/>
              </a:rPr>
              <a:t>Support transition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39CC2-522F-46A7-8D0E-98089D5C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95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E6472"/>
                </a:solidFill>
                <a:latin typeface="Times New Roman"/>
                <a:ea typeface="Times New Roman"/>
                <a:cs typeface="Times New Roman"/>
              </a:rPr>
              <a:t>favor cleaner and fairer energy choices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73F36D-C1DE-4569-A725-0C8FA94D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197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8FF076-BA25-48E1-B706-09DB1BBF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91150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This conclusion connects personal behavior with public responsibility, which is the central value of studying the energy crisis.</a:t>
            </a:r>
          </a:p>
        </p:txBody>
      </p:sp>
    </p:spTree>
    <p:extLst>
      <p:ext uri="{BB962C8B-B14F-4D97-AF65-F5344CB8AC3E}">
        <p14:creationId xmlns:p14="http://schemas.microsoft.com/office/powerpoint/2010/main" val="1431438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2026-05-19T07:41:28.9960000Z</dcterms:created>
  <dcterms:modified xsi:type="dcterms:W3CDTF">2026-05-19T07:41:28.9960000Z</dcterms:modified>
</coreProperties>
</file>